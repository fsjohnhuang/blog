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8"/>
  </p:notesMasterIdLst>
  <p:handoutMasterIdLst>
    <p:handoutMasterId r:id="rId19"/>
  </p:handoutMasterIdLst>
  <p:sldIdLst>
    <p:sldId id="259" r:id="rId2"/>
    <p:sldId id="258" r:id="rId3"/>
    <p:sldId id="260" r:id="rId4"/>
    <p:sldId id="261" r:id="rId5"/>
    <p:sldId id="263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DC13AB6D-DEA2-4CBB-AC69-1EF1A6AD1512}">
      <dgm:prSet custT="1"/>
      <dgm:spPr/>
      <dgm:t>
        <a:bodyPr rtlCol="0"/>
        <a:lstStyle/>
        <a:p>
          <a:pPr rtl="0">
            <a:defRPr cap="all"/>
          </a:pP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开发者</a:t>
          </a:r>
          <a:endParaRPr lang="en-US" altLang="zh-CN" sz="18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rtl="0">
            <a:defRPr cap="all"/>
          </a:pP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上传代码至</a:t>
          </a: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SVN</a:t>
          </a: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的开发分支</a:t>
          </a:r>
          <a:r>
            <a:rPr lang="en-US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(svn://svn.midea.com/QMS_DEV/GQMS/Branches/GQMS_QMS_V02R02_20170601/QMSV2/dev/Midea)</a:t>
          </a:r>
          <a:endParaRPr lang="zh-cn" sz="1800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2C752582-D9FF-4E04-A92F-827DB4BB5C48}" type="parTrans" cxnId="{4B888393-351D-4489-90C9-5A68061AB236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C64CC83-643C-4E12-8F97-BC19DC031190}" type="sibTrans" cxnId="{4B888393-351D-4489-90C9-5A68061AB236}">
      <dgm:prSet phldrT="01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53742231-981F-480A-940F-203EC2F7423F}">
      <dgm:prSet custT="1"/>
      <dgm:spPr/>
      <dgm:t>
        <a:bodyPr rtlCol="0"/>
        <a:lstStyle/>
        <a:p>
          <a:pPr rtl="0">
            <a:defRPr cap="all"/>
          </a:pP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开发者</a:t>
          </a:r>
          <a:endParaRPr lang="en-US" altLang="zh-CN" sz="18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rtl="0">
            <a:defRPr cap="all"/>
          </a:pP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在</a:t>
          </a: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Jenkins</a:t>
          </a: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上运行“</a:t>
          </a: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Excel</a:t>
          </a: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调度</a:t>
          </a: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-</a:t>
          </a: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编译发布” </a:t>
          </a:r>
          <a:endParaRPr lang="en-US" altLang="zh-CN" sz="18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rtl="0">
            <a:defRPr cap="all"/>
          </a:pP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(Jenkins: http://10.16.86.133:1300/job/qmsv2)</a:t>
          </a:r>
          <a:endParaRPr lang="zh-cn" sz="1800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2FC75195-FBA1-43DE-85DD-40B4B3A2F1F3}" type="parTrans" cxnId="{F226B1C2-5D99-403A-8240-EAD6BD4D8534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EF449C32-A7AE-4099-9E9B-9E2F736A89CE}" type="sibTrans" cxnId="{F226B1C2-5D99-403A-8240-EAD6BD4D8534}">
      <dgm:prSet phldrT="02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2" custLinFactNeighborX="-14235" custLinFactNeighborY="-13590"/>
      <dgm:spPr/>
    </dgm:pt>
    <dgm:pt modelId="{BBA91679-4684-4A04-8AEB-03038C78A75C}" type="pres">
      <dgm:prSet presAssocID="{9C64CC83-643C-4E12-8F97-BC19DC031190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2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2"/>
      <dgm:spPr/>
    </dgm:pt>
    <dgm:pt modelId="{975C752B-C37A-4BA6-A3AE-2202A141404A}" type="pres">
      <dgm:prSet presAssocID="{EF449C32-A7AE-4099-9E9B-9E2F736A89CE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DC13AB6D-DEA2-4CBB-AC69-1EF1A6AD1512}">
      <dgm:prSet custT="1"/>
      <dgm:spPr/>
      <dgm:t>
        <a:bodyPr rtlCol="0"/>
        <a:lstStyle/>
        <a:p>
          <a:pPr rtl="0">
            <a:defRPr cap="all"/>
          </a:pP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发布管理员</a:t>
          </a:r>
          <a:endParaRPr lang="en-US" altLang="zh-CN" sz="18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rtl="0">
            <a:defRPr cap="all"/>
          </a:pP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在</a:t>
          </a: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Jenkins</a:t>
          </a: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上执行</a:t>
          </a: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Approve</a:t>
          </a: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操作，将构建件推送到正式环境。</a:t>
          </a:r>
          <a:endParaRPr lang="en-US" altLang="zh-CN" sz="18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rtl="0">
            <a:defRPr cap="all"/>
          </a:pP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(JENKINS:</a:t>
          </a:r>
          <a:r>
            <a:rPr lang="en-US" sz="1800" dirty="0"/>
            <a:t>http://10.16.86.133:1300/job/qmsv2/job/qmsspv2-DEPLOY-UAT2/N/promotion/</a:t>
          </a: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)</a:t>
          </a:r>
        </a:p>
      </dgm:t>
    </dgm:pt>
    <dgm:pt modelId="{2C752582-D9FF-4E04-A92F-827DB4BB5C48}" type="parTrans" cxnId="{4B888393-351D-4489-90C9-5A68061AB236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C64CC83-643C-4E12-8F97-BC19DC031190}" type="sibTrans" cxnId="{4B888393-351D-4489-90C9-5A68061AB236}">
      <dgm:prSet phldrT="01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1" custLinFactNeighborX="-14235" custLinFactNeighborY="-13590"/>
      <dgm:spPr/>
    </dgm:pt>
    <dgm:pt modelId="{BBA91679-4684-4A04-8AEB-03038C78A75C}" type="pres">
      <dgm:prSet presAssocID="{9C64CC83-643C-4E12-8F97-BC19DC031190}" presName="sibTransNodeRect" presStyleLbl="alignNode1" presStyleIdx="0" presStyleCnt="1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1">
        <dgm:presLayoutVars>
          <dgm:bulletEnabled val="1"/>
        </dgm:presLayoutVars>
      </dgm:prSet>
      <dgm:spPr/>
    </dgm:pt>
  </dgm:ptLst>
  <dgm:cxnLst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DC13AB6D-DEA2-4CBB-AC69-1EF1A6AD1512}">
      <dgm:prSet custT="1"/>
      <dgm:spPr/>
      <dgm:t>
        <a:bodyPr rtlCol="0"/>
        <a:lstStyle/>
        <a:p>
          <a:pPr rtl="0">
            <a:defRPr cap="all"/>
          </a:pP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开发者</a:t>
          </a:r>
          <a:endParaRPr lang="en-US" altLang="zh-CN" sz="18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rtl="0">
            <a:defRPr cap="all"/>
          </a:pP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将开发分支中指定提交合并到</a:t>
          </a: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UAT</a:t>
          </a: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分支</a:t>
          </a:r>
          <a:endParaRPr lang="en-US" altLang="zh-CN" sz="1800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2C752582-D9FF-4E04-A92F-827DB4BB5C48}" type="parTrans" cxnId="{4B888393-351D-4489-90C9-5A68061AB236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C64CC83-643C-4E12-8F97-BC19DC031190}" type="sibTrans" cxnId="{4B888393-351D-4489-90C9-5A68061AB236}">
      <dgm:prSet phldrT="01" phldr="0"/>
      <dgm:spPr/>
      <dgm:t>
        <a:bodyPr rtlCol="0"/>
        <a:lstStyle/>
        <a:p>
          <a:pPr rtl="0"/>
          <a:r>
            <a:rPr lang="zh-cn" dirty="0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</a:p>
      </dgm:t>
    </dgm:pt>
    <dgm:pt modelId="{53742231-981F-480A-940F-203EC2F7423F}">
      <dgm:prSet custT="1"/>
      <dgm:spPr/>
      <dgm:t>
        <a:bodyPr rtlCol="0"/>
        <a:lstStyle/>
        <a:p>
          <a:pPr rtl="0">
            <a:defRPr cap="all"/>
          </a:pP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开发者</a:t>
          </a:r>
          <a:endParaRPr lang="en-US" altLang="zh-CN" sz="18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rtl="0">
            <a:defRPr cap="all"/>
          </a:pP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在</a:t>
          </a: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Jenkins</a:t>
          </a: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运行“</a:t>
          </a: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API-</a:t>
          </a: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编译发布</a:t>
          </a: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-UAT</a:t>
          </a: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”任务</a:t>
          </a:r>
          <a:endParaRPr lang="en-US" altLang="zh-CN" sz="1800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2FC75195-FBA1-43DE-85DD-40B4B3A2F1F3}" type="parTrans" cxnId="{F226B1C2-5D99-403A-8240-EAD6BD4D8534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EF449C32-A7AE-4099-9E9B-9E2F736A89CE}" type="sibTrans" cxnId="{F226B1C2-5D99-403A-8240-EAD6BD4D8534}">
      <dgm:prSet phldrT="02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2" custLinFactNeighborX="-77" custLinFactNeighborY="2215"/>
      <dgm:spPr/>
    </dgm:pt>
    <dgm:pt modelId="{BBA91679-4684-4A04-8AEB-03038C78A75C}" type="pres">
      <dgm:prSet presAssocID="{9C64CC83-643C-4E12-8F97-BC19DC031190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2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2"/>
      <dgm:spPr/>
    </dgm:pt>
    <dgm:pt modelId="{975C752B-C37A-4BA6-A3AE-2202A141404A}" type="pres">
      <dgm:prSet presAssocID="{EF449C32-A7AE-4099-9E9B-9E2F736A89CE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DC13AB6D-DEA2-4CBB-AC69-1EF1A6AD1512}">
      <dgm:prSet custT="1"/>
      <dgm:spPr>
        <a:solidFill>
          <a:schemeClr val="accent3">
            <a:lumMod val="50000"/>
          </a:schemeClr>
        </a:solidFill>
      </dgm:spPr>
      <dgm:t>
        <a:bodyPr rtlCol="0"/>
        <a:lstStyle/>
        <a:p>
          <a:pPr rtl="0">
            <a:defRPr cap="all"/>
          </a:pP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开发者</a:t>
          </a:r>
          <a:endParaRPr lang="en-US" altLang="zh-CN" sz="18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rtl="0">
            <a:defRPr cap="all"/>
          </a:pP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迁出</a:t>
          </a: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SVN</a:t>
          </a: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的</a:t>
          </a: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UAT</a:t>
          </a: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分支到本地</a:t>
          </a: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(svn://svn.midea.com/QMS_DEV/GQMS/Branches/GQMS_QMS_UAT)</a:t>
          </a:r>
        </a:p>
      </dgm:t>
    </dgm:pt>
    <dgm:pt modelId="{2C752582-D9FF-4E04-A92F-827DB4BB5C48}" type="parTrans" cxnId="{4B888393-351D-4489-90C9-5A68061AB236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C64CC83-643C-4E12-8F97-BC19DC031190}" type="sibTrans" cxnId="{4B888393-351D-4489-90C9-5A68061AB236}">
      <dgm:prSet phldrT="01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53742231-981F-480A-940F-203EC2F7423F}">
      <dgm:prSet custT="1"/>
      <dgm:spPr>
        <a:solidFill>
          <a:schemeClr val="accent5">
            <a:lumMod val="75000"/>
          </a:schemeClr>
        </a:solidFill>
      </dgm:spPr>
      <dgm:t>
        <a:bodyPr rtlCol="0"/>
        <a:lstStyle/>
        <a:p>
          <a:pPr rtl="0">
            <a:defRPr cap="all"/>
          </a:pP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开发者</a:t>
          </a:r>
          <a:endParaRPr lang="en-US" altLang="zh-CN" sz="18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rtl="0">
            <a:defRPr cap="all"/>
          </a:pP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上传代码至</a:t>
          </a:r>
          <a:r>
            <a:rPr lang="en-US" altLang="zh-CN" sz="1800" dirty="0">
              <a:latin typeface="新宋体" panose="02010609030101010101" pitchFamily="49" charset="-122"/>
              <a:ea typeface="新宋体" panose="02010609030101010101" pitchFamily="49" charset="-122"/>
            </a:rPr>
            <a:t>SVN</a:t>
          </a:r>
          <a:r>
            <a:rPr lang="zh-CN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的开发分支</a:t>
          </a:r>
          <a:r>
            <a:rPr lang="en-US" altLang="en-US" sz="1800" dirty="0">
              <a:latin typeface="新宋体" panose="02010609030101010101" pitchFamily="49" charset="-122"/>
              <a:ea typeface="新宋体" panose="02010609030101010101" pitchFamily="49" charset="-122"/>
            </a:rPr>
            <a:t>(svn://svn.midea.com/QMS_DEV/GQMS/Branches/GQMS_QMS_V02R02_20170601/QMSV2/dev/Midea)</a:t>
          </a:r>
          <a:endParaRPr lang="zh-cn" sz="1800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2FC75195-FBA1-43DE-85DD-40B4B3A2F1F3}" type="parTrans" cxnId="{F226B1C2-5D99-403A-8240-EAD6BD4D8534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EF449C32-A7AE-4099-9E9B-9E2F736A89CE}" type="sibTrans" cxnId="{F226B1C2-5D99-403A-8240-EAD6BD4D8534}">
      <dgm:prSet phldrT="02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2" custLinFactNeighborX="-14235" custLinFactNeighborY="-13590"/>
      <dgm:spPr/>
    </dgm:pt>
    <dgm:pt modelId="{BBA91679-4684-4A04-8AEB-03038C78A75C}" type="pres">
      <dgm:prSet presAssocID="{9C64CC83-643C-4E12-8F97-BC19DC031190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2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2"/>
      <dgm:spPr/>
    </dgm:pt>
    <dgm:pt modelId="{975C752B-C37A-4BA6-A3AE-2202A141404A}" type="pres">
      <dgm:prSet presAssocID="{EF449C32-A7AE-4099-9E9B-9E2F736A89CE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0" y="0"/>
          <a:ext cx="497461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0" rIns="491382" bIns="33020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开发者</a:t>
          </a:r>
          <a:endParaRPr lang="en-US" altLang="zh-CN" sz="1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上传代码至</a:t>
          </a: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SVN</a:t>
          </a: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的开发分支</a:t>
          </a:r>
          <a:r>
            <a:rPr lang="en-US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(svn://svn.midea.com/QMS_DEV/GQMS/Branches/GQMS_QMS_V02R02_20170601/QMSV2/dev/Midea)</a:t>
          </a:r>
          <a:endParaRPr lang="zh-cn" sz="1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0" y="1485900"/>
        <a:ext cx="4974617" cy="2228850"/>
      </dsp:txXfrm>
    </dsp:sp>
    <dsp:sp modelId="{BBA91679-4684-4A04-8AEB-03038C78A75C}">
      <dsp:nvSpPr>
        <dsp:cNvPr id="0" name=""/>
        <dsp:cNvSpPr/>
      </dsp:nvSpPr>
      <dsp:spPr>
        <a:xfrm>
          <a:off x="3235" y="0"/>
          <a:ext cx="497461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165100" rIns="491382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  <a:endParaRPr lang="zh-cn" altLang="en-US" sz="66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3235" y="0"/>
        <a:ext cx="4974617" cy="1485900"/>
      </dsp:txXfrm>
    </dsp:sp>
    <dsp:sp modelId="{00AE7F27-0E5D-4AFB-ACD6-B5A19E79EA42}">
      <dsp:nvSpPr>
        <dsp:cNvPr id="0" name=""/>
        <dsp:cNvSpPr/>
      </dsp:nvSpPr>
      <dsp:spPr>
        <a:xfrm>
          <a:off x="5375822" y="0"/>
          <a:ext cx="497461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0" rIns="491382" bIns="33020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开发者</a:t>
          </a:r>
          <a:endParaRPr lang="en-US" altLang="zh-CN" sz="1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在</a:t>
          </a: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Jenkins</a:t>
          </a: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上运行“</a:t>
          </a: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Excel</a:t>
          </a: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调度</a:t>
          </a: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-</a:t>
          </a: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编译发布” </a:t>
          </a:r>
          <a:endParaRPr lang="en-US" altLang="zh-CN" sz="1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(Jenkins: http://10.16.86.133:1300/job/qmsv2)</a:t>
          </a:r>
          <a:endParaRPr lang="zh-cn" sz="1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5375822" y="1485900"/>
        <a:ext cx="4974617" cy="2228850"/>
      </dsp:txXfrm>
    </dsp:sp>
    <dsp:sp modelId="{975C752B-C37A-4BA6-A3AE-2202A141404A}">
      <dsp:nvSpPr>
        <dsp:cNvPr id="0" name=""/>
        <dsp:cNvSpPr/>
      </dsp:nvSpPr>
      <dsp:spPr>
        <a:xfrm>
          <a:off x="5375822" y="0"/>
          <a:ext cx="497461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165100" rIns="491382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</a:p>
      </dsp:txBody>
      <dsp:txXfrm>
        <a:off x="5375822" y="0"/>
        <a:ext cx="4974617" cy="14859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0" y="0"/>
          <a:ext cx="10353675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2713" tIns="0" rIns="1022713" bIns="33020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发布管理员</a:t>
          </a:r>
          <a:endParaRPr lang="en-US" altLang="zh-CN" sz="1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在</a:t>
          </a: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Jenkins</a:t>
          </a: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上执行</a:t>
          </a: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Approve</a:t>
          </a: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操作，将构建件推送到正式环境。</a:t>
          </a:r>
          <a:endParaRPr lang="en-US" altLang="zh-CN" sz="1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(JENKINS:</a:t>
          </a:r>
          <a:r>
            <a:rPr lang="en-US" sz="1800" kern="1200" dirty="0"/>
            <a:t>http://10.16.86.133:1300/job/qmsv2/job/qmsspv2-DEPLOY-UAT2/N/promotion/</a:t>
          </a: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)</a:t>
          </a:r>
        </a:p>
      </dsp:txBody>
      <dsp:txXfrm>
        <a:off x="0" y="1485900"/>
        <a:ext cx="10353675" cy="2228850"/>
      </dsp:txXfrm>
    </dsp:sp>
    <dsp:sp modelId="{BBA91679-4684-4A04-8AEB-03038C78A75C}">
      <dsp:nvSpPr>
        <dsp:cNvPr id="0" name=""/>
        <dsp:cNvSpPr/>
      </dsp:nvSpPr>
      <dsp:spPr>
        <a:xfrm>
          <a:off x="0" y="0"/>
          <a:ext cx="10353675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2713" tIns="165100" rIns="102271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  <a:endParaRPr lang="zh-cn" altLang="en-US" sz="66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0" y="0"/>
        <a:ext cx="10353675" cy="14859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0" y="0"/>
          <a:ext cx="497461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0" rIns="491382" bIns="33020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开发者</a:t>
          </a:r>
          <a:endParaRPr lang="en-US" altLang="zh-CN" sz="1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将开发分支中指定提交合并到</a:t>
          </a: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UAT</a:t>
          </a: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分支</a:t>
          </a:r>
          <a:endParaRPr lang="en-US" altLang="zh-CN" sz="1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0" y="1485900"/>
        <a:ext cx="4974617" cy="2228850"/>
      </dsp:txXfrm>
    </dsp:sp>
    <dsp:sp modelId="{BBA91679-4684-4A04-8AEB-03038C78A75C}">
      <dsp:nvSpPr>
        <dsp:cNvPr id="0" name=""/>
        <dsp:cNvSpPr/>
      </dsp:nvSpPr>
      <dsp:spPr>
        <a:xfrm>
          <a:off x="3235" y="0"/>
          <a:ext cx="497461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165100" rIns="491382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600" kern="1200" dirty="0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</a:p>
      </dsp:txBody>
      <dsp:txXfrm>
        <a:off x="3235" y="0"/>
        <a:ext cx="4974617" cy="1485900"/>
      </dsp:txXfrm>
    </dsp:sp>
    <dsp:sp modelId="{00AE7F27-0E5D-4AFB-ACD6-B5A19E79EA42}">
      <dsp:nvSpPr>
        <dsp:cNvPr id="0" name=""/>
        <dsp:cNvSpPr/>
      </dsp:nvSpPr>
      <dsp:spPr>
        <a:xfrm>
          <a:off x="5375822" y="0"/>
          <a:ext cx="497461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0" rIns="491382" bIns="33020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开发者</a:t>
          </a:r>
          <a:endParaRPr lang="en-US" altLang="zh-CN" sz="1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在</a:t>
          </a: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Jenkins</a:t>
          </a: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运行“</a:t>
          </a: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API-</a:t>
          </a: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编译发布</a:t>
          </a: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-UAT</a:t>
          </a: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”任务</a:t>
          </a:r>
          <a:endParaRPr lang="en-US" altLang="zh-CN" sz="1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5375822" y="1485900"/>
        <a:ext cx="4974617" cy="2228850"/>
      </dsp:txXfrm>
    </dsp:sp>
    <dsp:sp modelId="{975C752B-C37A-4BA6-A3AE-2202A141404A}">
      <dsp:nvSpPr>
        <dsp:cNvPr id="0" name=""/>
        <dsp:cNvSpPr/>
      </dsp:nvSpPr>
      <dsp:spPr>
        <a:xfrm>
          <a:off x="5375822" y="0"/>
          <a:ext cx="497461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165100" rIns="491382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</a:p>
      </dsp:txBody>
      <dsp:txXfrm>
        <a:off x="5375822" y="0"/>
        <a:ext cx="4974617" cy="14859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0" y="0"/>
          <a:ext cx="4974617" cy="3714750"/>
        </a:xfrm>
        <a:prstGeom prst="rect">
          <a:avLst/>
        </a:prstGeom>
        <a:solidFill>
          <a:schemeClr val="accent3">
            <a:lumMod val="5000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0" rIns="491382" bIns="33020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开发者</a:t>
          </a:r>
          <a:endParaRPr lang="en-US" altLang="zh-CN" sz="1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迁出</a:t>
          </a: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SVN</a:t>
          </a: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的</a:t>
          </a: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UAT</a:t>
          </a: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分支到本地</a:t>
          </a: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(svn://svn.midea.com/QMS_DEV/GQMS/Branches/GQMS_QMS_UAT)</a:t>
          </a:r>
        </a:p>
      </dsp:txBody>
      <dsp:txXfrm>
        <a:off x="0" y="1485900"/>
        <a:ext cx="4974617" cy="2228850"/>
      </dsp:txXfrm>
    </dsp:sp>
    <dsp:sp modelId="{BBA91679-4684-4A04-8AEB-03038C78A75C}">
      <dsp:nvSpPr>
        <dsp:cNvPr id="0" name=""/>
        <dsp:cNvSpPr/>
      </dsp:nvSpPr>
      <dsp:spPr>
        <a:xfrm>
          <a:off x="3235" y="0"/>
          <a:ext cx="497461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165100" rIns="491382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  <a:endParaRPr lang="zh-cn" altLang="en-US" sz="66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3235" y="0"/>
        <a:ext cx="4974617" cy="1485900"/>
      </dsp:txXfrm>
    </dsp:sp>
    <dsp:sp modelId="{00AE7F27-0E5D-4AFB-ACD6-B5A19E79EA42}">
      <dsp:nvSpPr>
        <dsp:cNvPr id="0" name=""/>
        <dsp:cNvSpPr/>
      </dsp:nvSpPr>
      <dsp:spPr>
        <a:xfrm>
          <a:off x="5375822" y="0"/>
          <a:ext cx="4974617" cy="3714750"/>
        </a:xfrm>
        <a:prstGeom prst="rect">
          <a:avLst/>
        </a:prstGeom>
        <a:solidFill>
          <a:schemeClr val="accent5">
            <a:lumMod val="7500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0" rIns="491382" bIns="330200" numCol="1" spcCol="1270" rtlCol="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开发者</a:t>
          </a:r>
          <a:endParaRPr lang="en-US" altLang="zh-CN" sz="1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上传代码至</a:t>
          </a:r>
          <a:r>
            <a:rPr lang="en-US" altLang="zh-CN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SVN</a:t>
          </a:r>
          <a:r>
            <a:rPr lang="zh-CN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的开发分支</a:t>
          </a:r>
          <a:r>
            <a:rPr lang="en-US" altLang="en-US" sz="1800" kern="1200" dirty="0">
              <a:latin typeface="新宋体" panose="02010609030101010101" pitchFamily="49" charset="-122"/>
              <a:ea typeface="新宋体" panose="02010609030101010101" pitchFamily="49" charset="-122"/>
            </a:rPr>
            <a:t>(svn://svn.midea.com/QMS_DEV/GQMS/Branches/GQMS_QMS_V02R02_20170601/QMSV2/dev/Midea)</a:t>
          </a:r>
          <a:endParaRPr lang="zh-cn" sz="18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5375822" y="1485900"/>
        <a:ext cx="4974617" cy="2228850"/>
      </dsp:txXfrm>
    </dsp:sp>
    <dsp:sp modelId="{975C752B-C37A-4BA6-A3AE-2202A141404A}">
      <dsp:nvSpPr>
        <dsp:cNvPr id="0" name=""/>
        <dsp:cNvSpPr/>
      </dsp:nvSpPr>
      <dsp:spPr>
        <a:xfrm>
          <a:off x="5375822" y="0"/>
          <a:ext cx="497461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165100" rIns="491382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</a:p>
      </dsp:txBody>
      <dsp:txXfrm>
        <a:off x="5375822" y="0"/>
        <a:ext cx="497461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 rtlCol="0"/>
            <a:lstStyle/>
            <a:p>
              <a:pPr rtl="0"/>
              <a:r>
                <a:t>01</a:t>
              </a:r>
            </a:p>
          </dgm:t>
        </dgm:pt>
        <dgm:pt modelId="201" type="sibTrans" cxnId="5">
          <dgm:prSet phldrT="2"/>
          <dgm:t>
            <a:bodyPr rtlCol="0"/>
            <a:lstStyle/>
            <a:p>
              <a:pPr rtl="0"/>
              <a:r>
                <a:t>02</a:t>
              </a:r>
            </a:p>
          </dgm:t>
        </dgm:pt>
        <dgm:pt modelId="301" type="sibTrans" cxnId="6">
          <dgm:prSet phldrT="3"/>
          <dgm:t>
            <a:bodyPr rtlCol="0"/>
            <a:lstStyle/>
            <a:p>
              <a:pPr rtl="0"/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 rtlCol="0"/>
            <a:lstStyle/>
            <a:p>
              <a:pPr rtl="0"/>
              <a:r>
                <a:t>01</a:t>
              </a:r>
            </a:p>
          </dgm:t>
        </dgm:pt>
        <dgm:pt modelId="201" type="sibTrans" cxnId="5">
          <dgm:prSet phldrT="2"/>
          <dgm:t>
            <a:bodyPr rtlCol="0"/>
            <a:lstStyle/>
            <a:p>
              <a:pPr rtl="0"/>
              <a:r>
                <a:t>02</a:t>
              </a:r>
            </a:p>
          </dgm:t>
        </dgm:pt>
        <dgm:pt modelId="301" type="sibTrans" cxnId="6">
          <dgm:prSet phldrT="3"/>
          <dgm:t>
            <a:bodyPr rtlCol="0"/>
            <a:lstStyle/>
            <a:p>
              <a:pPr rtl="0"/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 rtlCol="0"/>
            <a:lstStyle/>
            <a:p>
              <a:pPr rtl="0"/>
              <a:r>
                <a:t>01</a:t>
              </a:r>
            </a:p>
          </dgm:t>
        </dgm:pt>
        <dgm:pt modelId="201" type="sibTrans" cxnId="5">
          <dgm:prSet phldrT="2"/>
          <dgm:t>
            <a:bodyPr rtlCol="0"/>
            <a:lstStyle/>
            <a:p>
              <a:pPr rtl="0"/>
              <a:r>
                <a:t>02</a:t>
              </a:r>
            </a:p>
          </dgm:t>
        </dgm:pt>
        <dgm:pt modelId="301" type="sibTrans" cxnId="6">
          <dgm:prSet phldrT="3"/>
          <dgm:t>
            <a:bodyPr rtlCol="0"/>
            <a:lstStyle/>
            <a:p>
              <a:pPr rtl="0"/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 rtlCol="0"/>
            <a:lstStyle/>
            <a:p>
              <a:pPr rtl="0"/>
              <a:r>
                <a:t>01</a:t>
              </a:r>
            </a:p>
          </dgm:t>
        </dgm:pt>
        <dgm:pt modelId="201" type="sibTrans" cxnId="5">
          <dgm:prSet phldrT="2"/>
          <dgm:t>
            <a:bodyPr rtlCol="0"/>
            <a:lstStyle/>
            <a:p>
              <a:pPr rtl="0"/>
              <a:r>
                <a:t>02</a:t>
              </a:r>
            </a:p>
          </dgm:t>
        </dgm:pt>
        <dgm:pt modelId="301" type="sibTrans" cxnId="6">
          <dgm:prSet phldrT="3"/>
          <dgm:t>
            <a:bodyPr rtlCol="0"/>
            <a:lstStyle/>
            <a:p>
              <a:pPr rtl="0"/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0098C1-0776-4557-9D46-1B787E688456}" type="datetime1">
              <a:rPr lang="zh-CN" altLang="en-US" smtClean="0"/>
              <a:t>2020/9/3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FF446B9-0BA7-440C-9491-EFEE44B7DCB7}" type="datetime1">
              <a:rPr lang="zh-CN" altLang="en-US" smtClean="0"/>
              <a:t>2020/9/3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/>
              <a:t>单击此处编辑母版文本样式</a:t>
            </a:r>
            <a:endParaRPr lang="en-US"/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8E8BE3-72DE-4BA9-940E-B3214E2A4FBC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761884-1233-44DE-95EA-687917CD0720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DD9908-788A-4C9F-9B82-38760DCE99A2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8F8C3A-E456-4019-B9D3-D27A657A074F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图片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5907AA-E66F-456D-8ABA-1CC838498840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C15656-9C52-4530-B9B0-471CBD4A032C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3893B8-6395-4039-AAC4-F8E54DB39C70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1F0827-5F6F-49F9-9E39-E700438688FE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D902FE-1817-4BA0-AB93-2732E2F941ED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​​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A75C24-54DF-4A37-B566-5D4504915616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DB8EFA-D326-482A-835B-35244CC8D335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题注的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文本占位符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4DE457-3CDB-46E6-BCC2-0DB87A7AB97D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cn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5E2E9F-6F2A-4603-A42F-23C3B9EC2542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2" name="文本占位符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AD336-3C25-4874-9EA7-D9A8F29C3DE6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图片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图片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标题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文本占位符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0" name="图片占位符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文本占位符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2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3" name="图片占位符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文本占位符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6" name="图片占位符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文本占位符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5ADDF4-C7DF-4425-A02C-99D8158E8998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E115FF-7F57-454B-BC07-3D5B5B3B2E36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C76A30-68C3-4742-871E-C4BFB5BF037D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zh-cn"/>
              <a:t>单击此处编辑母版文本样式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fld id="{B4EFF9AB-85BE-4B1F-BA1B-A157C8C43628}" type="datetime1">
              <a:rPr lang="zh-CN" altLang="en-US" smtClean="0"/>
              <a:t>2020/9/3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endParaRPr 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新宋体" panose="02010609030101010101" pitchFamily="49" charset="-122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一张显示了杯子、咖啡、食物和饮料的图片&#10;&#10;说明自动生成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528" y="1087120"/>
            <a:ext cx="10015199" cy="2648381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sz="7200" dirty="0"/>
              <a:t>新版</a:t>
            </a:r>
            <a:r>
              <a:rPr lang="en-US" altLang="zh-CN" sz="7200" dirty="0"/>
              <a:t>API/Excel</a:t>
            </a:r>
            <a:r>
              <a:rPr lang="zh-CN" altLang="en-US" sz="7200" dirty="0"/>
              <a:t>调度</a:t>
            </a:r>
            <a:r>
              <a:rPr lang="en-US" altLang="zh-CN" sz="7200" dirty="0"/>
              <a:t>/ESB</a:t>
            </a:r>
            <a:br>
              <a:rPr lang="en-US" altLang="zh-CN" sz="7200" dirty="0"/>
            </a:br>
            <a:r>
              <a:rPr lang="zh-CN" altLang="en-US" sz="7200" dirty="0"/>
              <a:t>发布流程说明</a:t>
            </a:r>
            <a:endParaRPr lang="zh-cn" sz="7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sz="2800" dirty="0"/>
              <a:t>John Huang</a:t>
            </a:r>
            <a:endParaRPr lang="zh-cn" sz="2800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dirty="0"/>
              <a:t>过去 </a:t>
            </a:r>
            <a:r>
              <a:rPr lang="en-US" altLang="zh-CN" dirty="0"/>
              <a:t>Excel</a:t>
            </a:r>
            <a:r>
              <a:rPr lang="zh-CN" altLang="en-US" dirty="0"/>
              <a:t>调度</a:t>
            </a:r>
            <a:r>
              <a:rPr lang="en-US" altLang="zh-CN" dirty="0"/>
              <a:t>UAT</a:t>
            </a:r>
            <a:r>
              <a:rPr lang="zh-CN" altLang="en-US" dirty="0"/>
              <a:t>环境的发布流程</a:t>
            </a:r>
            <a:endParaRPr lang="zh-cn" dirty="0"/>
          </a:p>
        </p:txBody>
      </p:sp>
      <p:graphicFrame>
        <p:nvGraphicFramePr>
          <p:cNvPr id="4" name="内容占位符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5911661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dirty="0"/>
              <a:t>过去 </a:t>
            </a:r>
            <a:r>
              <a:rPr lang="en-US" altLang="zh-CN" dirty="0"/>
              <a:t>Excel</a:t>
            </a:r>
            <a:r>
              <a:rPr lang="zh-CN" altLang="en-US" dirty="0"/>
              <a:t>调度正式环境的发布流程</a:t>
            </a:r>
            <a:endParaRPr lang="zh-cn" dirty="0"/>
          </a:p>
        </p:txBody>
      </p:sp>
      <p:graphicFrame>
        <p:nvGraphicFramePr>
          <p:cNvPr id="4" name="内容占位符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9557577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1213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dirty="0"/>
              <a:t>新版 </a:t>
            </a:r>
            <a:r>
              <a:rPr lang="en-US" altLang="zh-CN" dirty="0"/>
              <a:t>Excel</a:t>
            </a:r>
            <a:r>
              <a:rPr lang="zh-CN" altLang="en-US" dirty="0"/>
              <a:t>调度</a:t>
            </a:r>
            <a:r>
              <a:rPr lang="en-US" altLang="zh-CN" dirty="0"/>
              <a:t>UAT</a:t>
            </a:r>
            <a:r>
              <a:rPr lang="zh-CN" altLang="en-US" dirty="0"/>
              <a:t>环境的发布流程</a:t>
            </a:r>
            <a:endParaRPr lang="zh-cn" dirty="0"/>
          </a:p>
        </p:txBody>
      </p:sp>
      <p:graphicFrame>
        <p:nvGraphicFramePr>
          <p:cNvPr id="4" name="内容占位符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220645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A2BF1417-337E-49CE-ACA9-D1C38776F6B8}"/>
              </a:ext>
            </a:extLst>
          </p:cNvPr>
          <p:cNvSpPr txBox="1"/>
          <p:nvPr/>
        </p:nvSpPr>
        <p:spPr>
          <a:xfrm>
            <a:off x="2331720" y="2286000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/>
              <a:t>合并分支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6493D9-0952-454A-887C-648113701ACB}"/>
              </a:ext>
            </a:extLst>
          </p:cNvPr>
          <p:cNvSpPr txBox="1"/>
          <p:nvPr/>
        </p:nvSpPr>
        <p:spPr>
          <a:xfrm>
            <a:off x="7842504" y="2286000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/>
              <a:t>编译发布</a:t>
            </a:r>
          </a:p>
        </p:txBody>
      </p:sp>
    </p:spTree>
    <p:extLst>
      <p:ext uri="{BB962C8B-B14F-4D97-AF65-F5344CB8AC3E}">
        <p14:creationId xmlns:p14="http://schemas.microsoft.com/office/powerpoint/2010/main" val="2845824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rtlCol="0">
            <a:normAutofit fontScale="90000"/>
          </a:bodyPr>
          <a:lstStyle/>
          <a:p>
            <a:pPr rtl="0"/>
            <a:r>
              <a:rPr lang="zh-CN" altLang="en-US" dirty="0"/>
              <a:t>新版 </a:t>
            </a:r>
            <a:r>
              <a:rPr lang="en-US" altLang="zh-CN" dirty="0"/>
              <a:t>Excel</a:t>
            </a:r>
            <a:r>
              <a:rPr lang="zh-CN" altLang="en-US" dirty="0"/>
              <a:t>调度</a:t>
            </a:r>
            <a:r>
              <a:rPr lang="en-US" altLang="zh-CN" dirty="0"/>
              <a:t>UAT</a:t>
            </a:r>
            <a:r>
              <a:rPr lang="zh-CN" altLang="en-US" dirty="0"/>
              <a:t>环境的发布流程</a:t>
            </a:r>
            <a:br>
              <a:rPr lang="en-US" altLang="zh-CN" dirty="0"/>
            </a:br>
            <a:r>
              <a:rPr lang="en-US" altLang="zh-CN" dirty="0"/>
              <a:t>—— 01 </a:t>
            </a:r>
            <a:r>
              <a:rPr lang="zh-CN" altLang="en-US" dirty="0"/>
              <a:t>合并分支</a:t>
            </a:r>
            <a:endParaRPr lang="zh-cn" dirty="0"/>
          </a:p>
        </p:txBody>
      </p:sp>
      <p:graphicFrame>
        <p:nvGraphicFramePr>
          <p:cNvPr id="4" name="内容占位符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849716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0494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2890"/>
            <a:ext cx="10353762" cy="1257300"/>
          </a:xfrm>
        </p:spPr>
        <p:txBody>
          <a:bodyPr rtlCol="0">
            <a:normAutofit fontScale="90000"/>
          </a:bodyPr>
          <a:lstStyle/>
          <a:p>
            <a:pPr rtl="0"/>
            <a:r>
              <a:rPr lang="zh-CN" altLang="en-US" dirty="0"/>
              <a:t>新版 </a:t>
            </a:r>
            <a:r>
              <a:rPr lang="en-US" altLang="zh-CN" dirty="0"/>
              <a:t>Excel</a:t>
            </a:r>
            <a:r>
              <a:rPr lang="zh-CN" altLang="en-US" dirty="0"/>
              <a:t>调度</a:t>
            </a:r>
            <a:r>
              <a:rPr lang="en-US" altLang="zh-CN" dirty="0"/>
              <a:t>UAT</a:t>
            </a:r>
            <a:r>
              <a:rPr lang="zh-CN" altLang="en-US" dirty="0"/>
              <a:t>环境的发布流程</a:t>
            </a:r>
            <a:br>
              <a:rPr lang="en-US" altLang="zh-CN" dirty="0"/>
            </a:br>
            <a:r>
              <a:rPr lang="en-US" altLang="zh-CN" dirty="0"/>
              <a:t>—— 01 </a:t>
            </a:r>
            <a:r>
              <a:rPr lang="zh-CN" altLang="en-US" dirty="0"/>
              <a:t>合并分支</a:t>
            </a:r>
            <a:endParaRPr 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28919DE-C4CB-497C-80F1-407D8C433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2" y="2093976"/>
            <a:ext cx="5620125" cy="45305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14EAEA8-F8C0-486C-BD1E-CF4FD81435AA}"/>
              </a:ext>
            </a:extLst>
          </p:cNvPr>
          <p:cNvSpPr txBox="1"/>
          <p:nvPr/>
        </p:nvSpPr>
        <p:spPr>
          <a:xfrm>
            <a:off x="621792" y="1361123"/>
            <a:ext cx="7055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右键点击本地的</a:t>
            </a:r>
            <a:r>
              <a:rPr lang="en-US" altLang="zh-CN" dirty="0"/>
              <a:t>UAT</a:t>
            </a:r>
            <a:r>
              <a:rPr lang="zh-CN" altLang="en-US" dirty="0"/>
              <a:t>分支目录，依次选择 </a:t>
            </a:r>
            <a:r>
              <a:rPr lang="en-US" altLang="zh-CN" dirty="0"/>
              <a:t>TortoiseSVN/Merge</a:t>
            </a:r>
          </a:p>
          <a:p>
            <a:pPr marL="342900" indent="-342900">
              <a:buAutoNum type="arabicPeriod"/>
            </a:pPr>
            <a:r>
              <a:rPr lang="zh-CN" altLang="en-US" dirty="0"/>
              <a:t>在对话框中选择</a:t>
            </a:r>
            <a:r>
              <a:rPr lang="en-US" altLang="zh-CN" dirty="0"/>
              <a:t>Merge a range of revisions</a:t>
            </a:r>
            <a:r>
              <a:rPr lang="zh-CN" altLang="en-US" dirty="0"/>
              <a:t>，并点击</a:t>
            </a:r>
            <a:r>
              <a:rPr lang="en-US" altLang="zh-CN" dirty="0"/>
              <a:t>Next</a:t>
            </a:r>
            <a:r>
              <a:rPr lang="zh-CN" altLang="en-US" dirty="0"/>
              <a:t>进入下一步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ED8C545-B72E-4F15-9B45-BE00BD508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837" y="2093976"/>
            <a:ext cx="5137234" cy="453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49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2890"/>
            <a:ext cx="10353762" cy="1257300"/>
          </a:xfrm>
        </p:spPr>
        <p:txBody>
          <a:bodyPr rtlCol="0">
            <a:normAutofit fontScale="90000"/>
          </a:bodyPr>
          <a:lstStyle/>
          <a:p>
            <a:pPr rtl="0"/>
            <a:r>
              <a:rPr lang="zh-CN" altLang="en-US" dirty="0"/>
              <a:t>新版 </a:t>
            </a:r>
            <a:r>
              <a:rPr lang="en-US" altLang="zh-CN" dirty="0"/>
              <a:t>Excel</a:t>
            </a:r>
            <a:r>
              <a:rPr lang="zh-CN" altLang="en-US" dirty="0"/>
              <a:t>调度</a:t>
            </a:r>
            <a:r>
              <a:rPr lang="en-US" altLang="zh-CN" dirty="0"/>
              <a:t>UAT</a:t>
            </a:r>
            <a:r>
              <a:rPr lang="zh-CN" altLang="en-US" dirty="0"/>
              <a:t>环境的发布流程</a:t>
            </a:r>
            <a:br>
              <a:rPr lang="en-US" altLang="zh-CN" dirty="0"/>
            </a:br>
            <a:r>
              <a:rPr lang="en-US" altLang="zh-CN" dirty="0"/>
              <a:t>—— 01 </a:t>
            </a:r>
            <a:r>
              <a:rPr lang="zh-CN" altLang="en-US" dirty="0"/>
              <a:t>合并分支</a:t>
            </a:r>
            <a:endParaRPr 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4EAEA8-F8C0-486C-BD1E-CF4FD81435AA}"/>
              </a:ext>
            </a:extLst>
          </p:cNvPr>
          <p:cNvSpPr txBox="1"/>
          <p:nvPr/>
        </p:nvSpPr>
        <p:spPr>
          <a:xfrm>
            <a:off x="82296" y="1518845"/>
            <a:ext cx="48186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检查并确保</a:t>
            </a:r>
            <a:r>
              <a:rPr lang="en-US" altLang="zh-CN" dirty="0"/>
              <a:t>URL to merge from</a:t>
            </a:r>
            <a:r>
              <a:rPr lang="zh-CN" altLang="en-US" dirty="0"/>
              <a:t>输入框路径为开发分支的</a:t>
            </a:r>
            <a:r>
              <a:rPr lang="en-US" altLang="zh-CN" dirty="0"/>
              <a:t>URL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Revision range to merge</a:t>
            </a:r>
            <a:r>
              <a:rPr lang="zh-CN" altLang="en-US" dirty="0"/>
              <a:t>中选中</a:t>
            </a:r>
            <a:r>
              <a:rPr lang="en-US" altLang="zh-CN" dirty="0"/>
              <a:t>specific range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点击</a:t>
            </a:r>
            <a:r>
              <a:rPr lang="en-US" altLang="zh-CN" dirty="0"/>
              <a:t>specific range</a:t>
            </a:r>
            <a:r>
              <a:rPr lang="zh-CN" altLang="en-US" dirty="0"/>
              <a:t>右侧的</a:t>
            </a:r>
            <a:r>
              <a:rPr lang="en-US" altLang="zh-CN" dirty="0"/>
              <a:t>Show log</a:t>
            </a:r>
            <a:r>
              <a:rPr lang="zh-CN" altLang="en-US" dirty="0"/>
              <a:t>按钮，打开提交记录选择对话框。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656D94-9831-4CC4-88A0-647903042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589" y="1509399"/>
            <a:ext cx="6629603" cy="514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87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2890"/>
            <a:ext cx="10353762" cy="1257300"/>
          </a:xfrm>
        </p:spPr>
        <p:txBody>
          <a:bodyPr rtlCol="0">
            <a:normAutofit fontScale="90000"/>
          </a:bodyPr>
          <a:lstStyle/>
          <a:p>
            <a:pPr rtl="0"/>
            <a:r>
              <a:rPr lang="zh-CN" altLang="en-US" dirty="0"/>
              <a:t>新版 </a:t>
            </a:r>
            <a:r>
              <a:rPr lang="en-US" altLang="zh-CN" dirty="0"/>
              <a:t>Excel</a:t>
            </a:r>
            <a:r>
              <a:rPr lang="zh-CN" altLang="en-US" dirty="0"/>
              <a:t>调度</a:t>
            </a:r>
            <a:r>
              <a:rPr lang="en-US" altLang="zh-CN" dirty="0"/>
              <a:t>UAT</a:t>
            </a:r>
            <a:r>
              <a:rPr lang="zh-CN" altLang="en-US" dirty="0"/>
              <a:t>环境的发布流程</a:t>
            </a:r>
            <a:br>
              <a:rPr lang="en-US" altLang="zh-CN" dirty="0"/>
            </a:br>
            <a:r>
              <a:rPr lang="en-US" altLang="zh-CN" dirty="0"/>
              <a:t>—— 01 </a:t>
            </a:r>
            <a:r>
              <a:rPr lang="zh-CN" altLang="en-US" dirty="0"/>
              <a:t>合并分支</a:t>
            </a:r>
            <a:endParaRPr 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8C72F3-673D-4907-8C24-32E54F3BD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981" y="1390191"/>
            <a:ext cx="7173326" cy="53349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60D11B9-0850-4918-983F-02914A9A4C66}"/>
              </a:ext>
            </a:extLst>
          </p:cNvPr>
          <p:cNvSpPr txBox="1"/>
          <p:nvPr/>
        </p:nvSpPr>
        <p:spPr>
          <a:xfrm>
            <a:off x="82296" y="1518845"/>
            <a:ext cx="4818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在对话框中选择将被合并到</a:t>
            </a:r>
            <a:r>
              <a:rPr lang="en-US" altLang="zh-CN" dirty="0"/>
              <a:t>UAT</a:t>
            </a:r>
            <a:r>
              <a:rPr lang="zh-CN" altLang="en-US" dirty="0"/>
              <a:t>分支的提交记录，并点击</a:t>
            </a:r>
            <a:r>
              <a:rPr lang="en-US" altLang="zh-CN" dirty="0"/>
              <a:t>OK</a:t>
            </a:r>
            <a:r>
              <a:rPr lang="zh-CN" altLang="en-US" dirty="0"/>
              <a:t>。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PS</a:t>
            </a:r>
            <a:r>
              <a:rPr lang="zh-CN" altLang="en-US" dirty="0"/>
              <a:t>：若提交记录的</a:t>
            </a:r>
            <a:r>
              <a:rPr lang="en-US" altLang="zh-CN" dirty="0"/>
              <a:t>Actions</a:t>
            </a:r>
            <a:r>
              <a:rPr lang="zh-CN" altLang="en-US" dirty="0"/>
              <a:t>列中显式蓝色图标，即表示该提交记录已经执行过合并操作。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14874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2890"/>
            <a:ext cx="10353762" cy="1257300"/>
          </a:xfrm>
        </p:spPr>
        <p:txBody>
          <a:bodyPr rtlCol="0">
            <a:normAutofit fontScale="90000"/>
          </a:bodyPr>
          <a:lstStyle/>
          <a:p>
            <a:pPr rtl="0"/>
            <a:r>
              <a:rPr lang="zh-CN" altLang="en-US" dirty="0"/>
              <a:t>新版 </a:t>
            </a:r>
            <a:r>
              <a:rPr lang="en-US" altLang="zh-CN" dirty="0"/>
              <a:t>Excel</a:t>
            </a:r>
            <a:r>
              <a:rPr lang="zh-CN" altLang="en-US" dirty="0"/>
              <a:t>调度</a:t>
            </a:r>
            <a:r>
              <a:rPr lang="en-US" altLang="zh-CN" dirty="0"/>
              <a:t>UAT</a:t>
            </a:r>
            <a:r>
              <a:rPr lang="zh-CN" altLang="en-US" dirty="0"/>
              <a:t>环境的发布流程</a:t>
            </a:r>
            <a:br>
              <a:rPr lang="en-US" altLang="zh-CN" dirty="0"/>
            </a:br>
            <a:r>
              <a:rPr lang="en-US" altLang="zh-CN" dirty="0"/>
              <a:t>—— 01 </a:t>
            </a:r>
            <a:r>
              <a:rPr lang="zh-CN" altLang="en-US" dirty="0"/>
              <a:t>合并分支</a:t>
            </a:r>
            <a:endParaRPr 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0D11B9-0850-4918-983F-02914A9A4C66}"/>
              </a:ext>
            </a:extLst>
          </p:cNvPr>
          <p:cNvSpPr txBox="1"/>
          <p:nvPr/>
        </p:nvSpPr>
        <p:spPr>
          <a:xfrm>
            <a:off x="82296" y="1518845"/>
            <a:ext cx="4818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点击</a:t>
            </a:r>
            <a:r>
              <a:rPr lang="en-US" altLang="zh-CN" dirty="0"/>
              <a:t>Next</a:t>
            </a:r>
            <a:r>
              <a:rPr lang="zh-CN" altLang="en-US" dirty="0"/>
              <a:t>按钮进行下一步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97BEFF-FE90-4947-8449-108A7F7B0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917" y="1518845"/>
            <a:ext cx="5763429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509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2890"/>
            <a:ext cx="10353762" cy="1257300"/>
          </a:xfrm>
        </p:spPr>
        <p:txBody>
          <a:bodyPr rtlCol="0">
            <a:normAutofit fontScale="90000"/>
          </a:bodyPr>
          <a:lstStyle/>
          <a:p>
            <a:pPr rtl="0"/>
            <a:r>
              <a:rPr lang="zh-CN" altLang="en-US" dirty="0"/>
              <a:t>新版 </a:t>
            </a:r>
            <a:r>
              <a:rPr lang="en-US" altLang="zh-CN" dirty="0"/>
              <a:t>Excel</a:t>
            </a:r>
            <a:r>
              <a:rPr lang="zh-CN" altLang="en-US" dirty="0"/>
              <a:t>调度</a:t>
            </a:r>
            <a:r>
              <a:rPr lang="en-US" altLang="zh-CN" dirty="0"/>
              <a:t>UAT</a:t>
            </a:r>
            <a:r>
              <a:rPr lang="zh-CN" altLang="en-US" dirty="0"/>
              <a:t>环境的发布流程</a:t>
            </a:r>
            <a:br>
              <a:rPr lang="en-US" altLang="zh-CN" dirty="0"/>
            </a:br>
            <a:r>
              <a:rPr lang="en-US" altLang="zh-CN" dirty="0"/>
              <a:t>—— 01 </a:t>
            </a:r>
            <a:r>
              <a:rPr lang="zh-CN" altLang="en-US" dirty="0"/>
              <a:t>合并分支</a:t>
            </a:r>
            <a:endParaRPr 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0D11B9-0850-4918-983F-02914A9A4C66}"/>
              </a:ext>
            </a:extLst>
          </p:cNvPr>
          <p:cNvSpPr txBox="1"/>
          <p:nvPr/>
        </p:nvSpPr>
        <p:spPr>
          <a:xfrm>
            <a:off x="82296" y="1518845"/>
            <a:ext cx="48186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/>
              <a:t>Merge depth</a:t>
            </a:r>
            <a:r>
              <a:rPr lang="zh-CN" altLang="en-US" dirty="0"/>
              <a:t>中选中</a:t>
            </a:r>
            <a:r>
              <a:rPr lang="en-US" altLang="zh-CN" dirty="0"/>
              <a:t>Full recursive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点击</a:t>
            </a:r>
            <a:r>
              <a:rPr lang="en-US" altLang="zh-CN" dirty="0"/>
              <a:t>Test merge</a:t>
            </a:r>
            <a:r>
              <a:rPr lang="zh-CN" altLang="en-US" dirty="0"/>
              <a:t>按钮，检查分支合并是否存在冲突；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若没有冲突则点击</a:t>
            </a:r>
            <a:r>
              <a:rPr lang="en-US" altLang="zh-CN" dirty="0"/>
              <a:t>Merge</a:t>
            </a:r>
            <a:r>
              <a:rPr lang="zh-CN" altLang="en-US" dirty="0"/>
              <a:t>按钮，执行合并操作。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C15F4F2-AD8D-487E-9074-CFCDF0621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044" y="1849351"/>
            <a:ext cx="4972744" cy="45294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4B51EED-5B43-4D9B-AA7F-98C31C7CF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34" y="4114058"/>
            <a:ext cx="5131123" cy="216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3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2890"/>
            <a:ext cx="10353762" cy="1257300"/>
          </a:xfrm>
        </p:spPr>
        <p:txBody>
          <a:bodyPr rtlCol="0">
            <a:normAutofit fontScale="90000"/>
          </a:bodyPr>
          <a:lstStyle/>
          <a:p>
            <a:pPr rtl="0"/>
            <a:r>
              <a:rPr lang="zh-CN" altLang="en-US" dirty="0"/>
              <a:t>新版 </a:t>
            </a:r>
            <a:r>
              <a:rPr lang="en-US" altLang="zh-CN" dirty="0"/>
              <a:t>Excel</a:t>
            </a:r>
            <a:r>
              <a:rPr lang="zh-CN" altLang="en-US" dirty="0"/>
              <a:t>调度</a:t>
            </a:r>
            <a:r>
              <a:rPr lang="en-US" altLang="zh-CN" dirty="0"/>
              <a:t>UAT</a:t>
            </a:r>
            <a:r>
              <a:rPr lang="zh-CN" altLang="en-US" dirty="0"/>
              <a:t>环境的发布流程</a:t>
            </a:r>
            <a:br>
              <a:rPr lang="en-US" altLang="zh-CN" dirty="0"/>
            </a:br>
            <a:r>
              <a:rPr lang="en-US" altLang="zh-CN" dirty="0"/>
              <a:t>—— 01 </a:t>
            </a:r>
            <a:r>
              <a:rPr lang="zh-CN" altLang="en-US" dirty="0"/>
              <a:t>合并分支</a:t>
            </a:r>
            <a:endParaRPr 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0D11B9-0850-4918-983F-02914A9A4C66}"/>
              </a:ext>
            </a:extLst>
          </p:cNvPr>
          <p:cNvSpPr txBox="1"/>
          <p:nvPr/>
        </p:nvSpPr>
        <p:spPr>
          <a:xfrm>
            <a:off x="82296" y="1518845"/>
            <a:ext cx="4818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右键点击本地</a:t>
            </a:r>
            <a:r>
              <a:rPr lang="en-US" altLang="zh-CN" dirty="0"/>
              <a:t>UAT</a:t>
            </a:r>
            <a:r>
              <a:rPr lang="zh-CN" altLang="en-US" dirty="0"/>
              <a:t>分支目录，选择</a:t>
            </a:r>
            <a:r>
              <a:rPr lang="en-US" altLang="zh-CN" dirty="0"/>
              <a:t>SVN Commit</a:t>
            </a:r>
            <a:r>
              <a:rPr lang="zh-CN" altLang="en-US" dirty="0"/>
              <a:t>；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28A40B-D79B-4C63-86CD-2950A1D00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047" y="1518845"/>
            <a:ext cx="4954028" cy="514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436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2890"/>
            <a:ext cx="10353762" cy="1257300"/>
          </a:xfrm>
        </p:spPr>
        <p:txBody>
          <a:bodyPr rtlCol="0">
            <a:normAutofit fontScale="90000"/>
          </a:bodyPr>
          <a:lstStyle/>
          <a:p>
            <a:pPr rtl="0"/>
            <a:r>
              <a:rPr lang="zh-CN" altLang="en-US" dirty="0"/>
              <a:t>新版 </a:t>
            </a:r>
            <a:r>
              <a:rPr lang="en-US" altLang="zh-CN" dirty="0"/>
              <a:t>Excel</a:t>
            </a:r>
            <a:r>
              <a:rPr lang="zh-CN" altLang="en-US" dirty="0"/>
              <a:t>调度</a:t>
            </a:r>
            <a:r>
              <a:rPr lang="en-US" altLang="zh-CN" dirty="0"/>
              <a:t>UAT</a:t>
            </a:r>
            <a:r>
              <a:rPr lang="zh-CN" altLang="en-US" dirty="0"/>
              <a:t>环境的发布流程</a:t>
            </a:r>
            <a:br>
              <a:rPr lang="en-US" altLang="zh-CN" dirty="0"/>
            </a:br>
            <a:r>
              <a:rPr lang="en-US" altLang="zh-CN" dirty="0"/>
              <a:t>—— 01 </a:t>
            </a:r>
            <a:r>
              <a:rPr lang="zh-CN" altLang="en-US" dirty="0"/>
              <a:t>合并分支</a:t>
            </a:r>
            <a:endParaRPr 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0D11B9-0850-4918-983F-02914A9A4C66}"/>
              </a:ext>
            </a:extLst>
          </p:cNvPr>
          <p:cNvSpPr txBox="1"/>
          <p:nvPr/>
        </p:nvSpPr>
        <p:spPr>
          <a:xfrm>
            <a:off x="82296" y="1518845"/>
            <a:ext cx="48186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点击</a:t>
            </a:r>
            <a:r>
              <a:rPr lang="en-US" altLang="zh-CN" dirty="0"/>
              <a:t>Recent messages</a:t>
            </a:r>
            <a:r>
              <a:rPr lang="zh-CN" altLang="en-US" dirty="0"/>
              <a:t>打开日志对话框；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选中相应的分支合并日志记录；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点击</a:t>
            </a:r>
            <a:r>
              <a:rPr lang="en-US" altLang="zh-CN" dirty="0"/>
              <a:t>OK</a:t>
            </a:r>
            <a:r>
              <a:rPr lang="zh-CN" altLang="en-US" dirty="0"/>
              <a:t>按钮，关闭对话框；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点击</a:t>
            </a:r>
            <a:r>
              <a:rPr lang="en-US" altLang="zh-CN" dirty="0"/>
              <a:t>OK</a:t>
            </a:r>
            <a:r>
              <a:rPr lang="zh-CN" altLang="en-US" dirty="0"/>
              <a:t>按钮，提交分支合并结果到</a:t>
            </a:r>
            <a:r>
              <a:rPr lang="en-US" altLang="zh-CN" dirty="0"/>
              <a:t>SVN</a:t>
            </a:r>
            <a:r>
              <a:rPr lang="zh-CN" altLang="en-US" dirty="0"/>
              <a:t>服务端。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0BC1CB-82FC-413A-8151-3621E3578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809" y="1390190"/>
            <a:ext cx="6839905" cy="53442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A267C8D-00EF-4E58-8823-F6B62EDC53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10" y="3600474"/>
            <a:ext cx="4818685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99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2890"/>
            <a:ext cx="10353762" cy="1257300"/>
          </a:xfrm>
        </p:spPr>
        <p:txBody>
          <a:bodyPr rtlCol="0">
            <a:normAutofit fontScale="90000"/>
          </a:bodyPr>
          <a:lstStyle/>
          <a:p>
            <a:pPr rtl="0"/>
            <a:r>
              <a:rPr lang="zh-CN" altLang="en-US" dirty="0"/>
              <a:t>新版 </a:t>
            </a:r>
            <a:r>
              <a:rPr lang="en-US" altLang="zh-CN" dirty="0"/>
              <a:t>Excel</a:t>
            </a:r>
            <a:r>
              <a:rPr lang="zh-CN" altLang="en-US" dirty="0"/>
              <a:t>调度</a:t>
            </a:r>
            <a:r>
              <a:rPr lang="en-US" altLang="zh-CN" dirty="0"/>
              <a:t>UAT</a:t>
            </a:r>
            <a:r>
              <a:rPr lang="zh-CN" altLang="en-US" dirty="0"/>
              <a:t>环境的发布流程</a:t>
            </a:r>
            <a:br>
              <a:rPr lang="en-US" altLang="zh-CN" dirty="0"/>
            </a:br>
            <a:r>
              <a:rPr lang="en-US" altLang="zh-CN" dirty="0"/>
              <a:t>—— 02 </a:t>
            </a:r>
            <a:r>
              <a:rPr lang="zh-CN" altLang="en-US" dirty="0"/>
              <a:t>编译发布</a:t>
            </a:r>
            <a:endParaRPr 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0D11B9-0850-4918-983F-02914A9A4C66}"/>
              </a:ext>
            </a:extLst>
          </p:cNvPr>
          <p:cNvSpPr txBox="1"/>
          <p:nvPr/>
        </p:nvSpPr>
        <p:spPr>
          <a:xfrm>
            <a:off x="82296" y="1518845"/>
            <a:ext cx="4818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Jenkins</a:t>
            </a:r>
            <a:r>
              <a:rPr lang="zh-CN" altLang="en-US" dirty="0"/>
              <a:t>上运行“</a:t>
            </a:r>
            <a:r>
              <a:rPr lang="en-US" altLang="zh-CN" dirty="0"/>
              <a:t>Excel</a:t>
            </a:r>
            <a:r>
              <a:rPr lang="zh-CN" altLang="en-US" dirty="0"/>
              <a:t>调度</a:t>
            </a:r>
            <a:r>
              <a:rPr lang="en-US" altLang="zh-CN" dirty="0"/>
              <a:t>-</a:t>
            </a:r>
            <a:r>
              <a:rPr lang="zh-CN" altLang="en-US" dirty="0"/>
              <a:t>编译发布</a:t>
            </a:r>
            <a:r>
              <a:rPr lang="en-US" altLang="zh-CN" dirty="0"/>
              <a:t>-UAT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en-US" altLang="zh-CN" dirty="0"/>
              <a:t>(Jenkins: http://10.16.86.133:1300/job/qmsv2)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D0C648E-CBFD-4681-84BD-667DF6DDA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004" y="1738872"/>
            <a:ext cx="6784700" cy="471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842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2890"/>
            <a:ext cx="10353762" cy="1257300"/>
          </a:xfrm>
        </p:spPr>
        <p:txBody>
          <a:bodyPr rtlCol="0">
            <a:normAutofit fontScale="90000"/>
          </a:bodyPr>
          <a:lstStyle/>
          <a:p>
            <a:pPr rtl="0"/>
            <a:r>
              <a:rPr lang="zh-CN" altLang="en-US" dirty="0"/>
              <a:t>新版 </a:t>
            </a:r>
            <a:r>
              <a:rPr lang="en-US" altLang="zh-CN" dirty="0"/>
              <a:t>Excel</a:t>
            </a:r>
            <a:r>
              <a:rPr lang="zh-CN" altLang="en-US" dirty="0"/>
              <a:t>调度</a:t>
            </a:r>
            <a:r>
              <a:rPr lang="en-US" altLang="zh-CN" dirty="0"/>
              <a:t>VER/</a:t>
            </a:r>
            <a:r>
              <a:rPr lang="zh-CN" altLang="en-US" dirty="0"/>
              <a:t>生产环境的发布流程</a:t>
            </a:r>
            <a:endParaRPr 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619D56-32BE-4B34-B02D-0903458F1EDE}"/>
              </a:ext>
            </a:extLst>
          </p:cNvPr>
          <p:cNvSpPr txBox="1"/>
          <p:nvPr/>
        </p:nvSpPr>
        <p:spPr>
          <a:xfrm>
            <a:off x="758952" y="1728216"/>
            <a:ext cx="105336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VER</a:t>
            </a:r>
            <a:r>
              <a:rPr lang="zh-CN" altLang="en-US" sz="2000" dirty="0"/>
              <a:t>流程和</a:t>
            </a:r>
            <a:r>
              <a:rPr lang="en-US" altLang="zh-CN" sz="2000" dirty="0"/>
              <a:t>UAT</a:t>
            </a:r>
            <a:r>
              <a:rPr lang="zh-CN" altLang="en-US" sz="2000" dirty="0"/>
              <a:t>环境发布一致，仅如下部分有所不同：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迁出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SVN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的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VER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分支到本地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(svn://svn.midea.com/QMS_DEV/GQMS/Branches/GQMS_QMS_VER)</a:t>
            </a:r>
          </a:p>
          <a:p>
            <a:pPr marL="342900" indent="-342900">
              <a:buAutoNum type="arabicPeriod"/>
            </a:pP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分支合并操作为，将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UAT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分支指定提交合并到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VER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分支</a:t>
            </a:r>
            <a:endParaRPr lang="en-US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在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Jenkins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上运行“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Excel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调度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-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编译发布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-VER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”任务</a:t>
            </a:r>
            <a:endParaRPr lang="en-US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D743508-1A9B-4B1E-97C8-CE0152C4A514}"/>
              </a:ext>
            </a:extLst>
          </p:cNvPr>
          <p:cNvSpPr txBox="1"/>
          <p:nvPr/>
        </p:nvSpPr>
        <p:spPr>
          <a:xfrm>
            <a:off x="682752" y="3929456"/>
            <a:ext cx="861004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正式流程和</a:t>
            </a:r>
            <a:r>
              <a:rPr lang="en-US" altLang="zh-CN" sz="2000" dirty="0"/>
              <a:t>UAT</a:t>
            </a:r>
            <a:r>
              <a:rPr lang="zh-CN" altLang="en-US" sz="2000" dirty="0"/>
              <a:t>环境发布一致，仅如下部分有所不同：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迁出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SVN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的正式分支到本地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(svn://svn.midea.com/QMS_DEV/GQMS/Trunk)</a:t>
            </a:r>
          </a:p>
          <a:p>
            <a:pPr marL="342900" indent="-342900">
              <a:buAutoNum type="arabicPeriod"/>
            </a:pP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分支合并操作为，将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VER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分支指定提交合并到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Trunk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分支</a:t>
            </a:r>
            <a:endParaRPr lang="en-US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在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Jenkins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上运行“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Excel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调度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-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编译发布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-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正式环境”任务</a:t>
            </a:r>
            <a:endParaRPr lang="en-US" altLang="zh-CN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1012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2890"/>
            <a:ext cx="10353762" cy="1257300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dirty="0"/>
              <a:t>新版 </a:t>
            </a:r>
            <a:r>
              <a:rPr lang="en-US" altLang="zh-CN" dirty="0"/>
              <a:t>API/ESB</a:t>
            </a:r>
            <a:r>
              <a:rPr lang="zh-CN" altLang="en-US" dirty="0"/>
              <a:t>各环境的发布流程</a:t>
            </a:r>
            <a:endParaRPr 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619D56-32BE-4B34-B02D-0903458F1EDE}"/>
              </a:ext>
            </a:extLst>
          </p:cNvPr>
          <p:cNvSpPr txBox="1"/>
          <p:nvPr/>
        </p:nvSpPr>
        <p:spPr>
          <a:xfrm>
            <a:off x="3323446" y="2659559"/>
            <a:ext cx="58272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新宋体" panose="02010609030101010101" pitchFamily="49" charset="-122"/>
                <a:ea typeface="新宋体" panose="02010609030101010101" pitchFamily="49" charset="-122"/>
              </a:rPr>
              <a:t>和 </a:t>
            </a:r>
            <a:r>
              <a:rPr lang="en-US" altLang="zh-CN" sz="4400" dirty="0">
                <a:latin typeface="新宋体" panose="02010609030101010101" pitchFamily="49" charset="-122"/>
                <a:ea typeface="新宋体" panose="02010609030101010101" pitchFamily="49" charset="-122"/>
              </a:rPr>
              <a:t>Excel</a:t>
            </a:r>
            <a:r>
              <a:rPr lang="zh-CN" altLang="en-US" sz="4400" dirty="0">
                <a:latin typeface="新宋体" panose="02010609030101010101" pitchFamily="49" charset="-122"/>
                <a:ea typeface="新宋体" panose="02010609030101010101" pitchFamily="49" charset="-122"/>
              </a:rPr>
              <a:t>调度 一致</a:t>
            </a:r>
            <a:r>
              <a:rPr lang="en-US" altLang="zh-CN" sz="4400" dirty="0">
                <a:latin typeface="新宋体" panose="02010609030101010101" pitchFamily="49" charset="-122"/>
                <a:ea typeface="新宋体" panose="02010609030101010101" pitchFamily="49" charset="-122"/>
              </a:rPr>
              <a:t>^_^</a:t>
            </a:r>
          </a:p>
        </p:txBody>
      </p:sp>
    </p:spTree>
    <p:extLst>
      <p:ext uri="{BB962C8B-B14F-4D97-AF65-F5344CB8AC3E}">
        <p14:creationId xmlns:p14="http://schemas.microsoft.com/office/powerpoint/2010/main" val="885495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951" y="718106"/>
            <a:ext cx="10353762" cy="1257300"/>
          </a:xfrm>
        </p:spPr>
        <p:txBody>
          <a:bodyPr rtlCol="0">
            <a:normAutofit fontScale="90000"/>
          </a:bodyPr>
          <a:lstStyle/>
          <a:p>
            <a:pPr rtl="0"/>
            <a:r>
              <a:rPr lang="zh-CN" altLang="en-US" dirty="0"/>
              <a:t>提交日志格式</a:t>
            </a:r>
            <a:br>
              <a:rPr lang="en-US" altLang="zh-CN" dirty="0"/>
            </a:br>
            <a:r>
              <a:rPr lang="en-US" altLang="zh-CN" dirty="0"/>
              <a:t>		</a:t>
            </a:r>
            <a:endParaRPr 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073669-2567-4763-9444-C4247CED199E}"/>
              </a:ext>
            </a:extLst>
          </p:cNvPr>
          <p:cNvSpPr txBox="1"/>
          <p:nvPr/>
        </p:nvSpPr>
        <p:spPr>
          <a:xfrm>
            <a:off x="946551" y="1984852"/>
            <a:ext cx="21595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#&lt;</a:t>
            </a:r>
            <a:r>
              <a:rPr lang="zh-CN" altLang="en-US" sz="2800" dirty="0"/>
              <a:t>需求编号</a:t>
            </a:r>
            <a:r>
              <a:rPr lang="en-US" altLang="zh-CN" sz="2800" dirty="0"/>
              <a:t>&gt;</a:t>
            </a:r>
          </a:p>
          <a:p>
            <a:r>
              <a:rPr lang="en-US" altLang="zh-CN" sz="2800" dirty="0"/>
              <a:t>&lt;</a:t>
            </a:r>
            <a:r>
              <a:rPr lang="zh-CN" altLang="en-US" sz="2800" dirty="0"/>
              <a:t>日志正文</a:t>
            </a:r>
            <a:r>
              <a:rPr lang="en-US" altLang="zh-CN" sz="2800" dirty="0"/>
              <a:t>&gt;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917C54-1D68-4257-B43C-08B68AFBF6D8}"/>
              </a:ext>
            </a:extLst>
          </p:cNvPr>
          <p:cNvSpPr txBox="1"/>
          <p:nvPr/>
        </p:nvSpPr>
        <p:spPr>
          <a:xfrm>
            <a:off x="7160048" y="1769407"/>
            <a:ext cx="431400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示例：</a:t>
            </a:r>
            <a:endParaRPr lang="en-US" altLang="zh-CN" sz="2800" dirty="0"/>
          </a:p>
          <a:p>
            <a:r>
              <a:rPr lang="en-US" altLang="zh-CN" sz="2800" dirty="0"/>
              <a:t>  #TAK201903290003</a:t>
            </a:r>
          </a:p>
          <a:p>
            <a:r>
              <a:rPr lang="en-US" altLang="zh-CN" sz="2800" dirty="0"/>
              <a:t>  </a:t>
            </a:r>
            <a:r>
              <a:rPr lang="zh-CN" altLang="en-US" sz="2800" dirty="0"/>
              <a:t>加入邮件通知去重逻辑。</a:t>
            </a:r>
          </a:p>
        </p:txBody>
      </p:sp>
    </p:spTree>
    <p:extLst>
      <p:ext uri="{BB962C8B-B14F-4D97-AF65-F5344CB8AC3E}">
        <p14:creationId xmlns:p14="http://schemas.microsoft.com/office/powerpoint/2010/main" val="19937442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56_TF12214701.potx" id="{11CCF850-A106-4C83-9778-04C2F532D32F}" vid="{0B8A0E20-82B4-435B-92AB-957BEAB0242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{54DB5E6E-C676-4911-8DC3-9F733A24D15A}tf12214701_win32</Template>
  <TotalTime>270</TotalTime>
  <Words>766</Words>
  <Application>Microsoft Office PowerPoint</Application>
  <PresentationFormat>宽屏</PresentationFormat>
  <Paragraphs>76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新宋体</vt:lpstr>
      <vt:lpstr>Calibri</vt:lpstr>
      <vt:lpstr>Goudy Old Style</vt:lpstr>
      <vt:lpstr>Wingdings 2</vt:lpstr>
      <vt:lpstr>SlateVTI</vt:lpstr>
      <vt:lpstr>新版API/Excel调度/ESB 发布流程说明</vt:lpstr>
      <vt:lpstr>过去 Excel调度UAT环境的发布流程</vt:lpstr>
      <vt:lpstr>过去 Excel调度正式环境的发布流程</vt:lpstr>
      <vt:lpstr>新版 Excel调度UAT环境的发布流程</vt:lpstr>
      <vt:lpstr>新版 Excel调度UAT环境的发布流程 —— 01 合并分支</vt:lpstr>
      <vt:lpstr>新版 Excel调度UAT环境的发布流程 —— 01 合并分支</vt:lpstr>
      <vt:lpstr>新版 Excel调度UAT环境的发布流程 —— 01 合并分支</vt:lpstr>
      <vt:lpstr>新版 Excel调度UAT环境的发布流程 —— 01 合并分支</vt:lpstr>
      <vt:lpstr>新版 Excel调度UAT环境的发布流程 —— 01 合并分支</vt:lpstr>
      <vt:lpstr>新版 Excel调度UAT环境的发布流程 —— 01 合并分支</vt:lpstr>
      <vt:lpstr>新版 Excel调度UAT环境的发布流程 —— 01 合并分支</vt:lpstr>
      <vt:lpstr>新版 Excel调度UAT环境的发布流程 —— 01 合并分支</vt:lpstr>
      <vt:lpstr>新版 Excel调度UAT环境的发布流程 —— 02 编译发布</vt:lpstr>
      <vt:lpstr>新版 Excel调度VER/生产环境的发布流程</vt:lpstr>
      <vt:lpstr>新版 API/ESB各环境的发布流程</vt:lpstr>
      <vt:lpstr>提交日志格式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新版API/Excel调度/ESB 发布流程说明</dc:title>
  <dc:creator>John Huang</dc:creator>
  <cp:lastModifiedBy>John Huang</cp:lastModifiedBy>
  <cp:revision>30</cp:revision>
  <dcterms:created xsi:type="dcterms:W3CDTF">2020-08-31T08:18:23Z</dcterms:created>
  <dcterms:modified xsi:type="dcterms:W3CDTF">2020-09-03T04:31:15Z</dcterms:modified>
</cp:coreProperties>
</file>